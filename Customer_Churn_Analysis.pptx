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1" r:id="rId19"/>
    <p:sldId id="272" r:id="rId20"/>
    <p:sldId id="273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4155"/>
    <a:srgbClr val="6A7078"/>
    <a:srgbClr val="97D23E"/>
    <a:srgbClr val="30C0DA"/>
    <a:srgbClr val="F9C84A"/>
    <a:srgbClr val="9052C8"/>
    <a:srgbClr val="F35F79"/>
    <a:srgbClr val="36A49B"/>
    <a:srgbClr val="10B981"/>
    <a:srgbClr val="FBB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997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DB80C-1FEF-9B31-60C4-2FA063AFE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86A1C-4689-695E-6667-55FBCA375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4B915-79D0-1151-CCBE-9263FCF15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06540-C78F-0CFF-E387-00ED008AFE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528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A0F8B-672F-799C-C3B7-5C3489E56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853BB-B26F-255C-1A4B-91E33339E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1EE63-06B1-D1DB-D350-9E9CD46E8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2F57B-A33B-86F0-72AD-A816526523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267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188720"/>
            <a:ext cx="4572000" cy="4572000"/>
          </a:xfrm>
          <a:prstGeom prst="ellipse">
            <a:avLst/>
          </a:prstGeom>
          <a:solidFill>
            <a:srgbClr val="7B2FBE">
              <a:alpha val="25000"/>
            </a:srgbClr>
          </a:solidFill>
          <a:ln w="12700">
            <a:solidFill>
              <a:srgbClr val="7B2FB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35D2EA2-C769-FBC3-0B1A-AAFC416F86B8}"/>
              </a:ext>
            </a:extLst>
          </p:cNvPr>
          <p:cNvGrpSpPr/>
          <p:nvPr/>
        </p:nvGrpSpPr>
        <p:grpSpPr>
          <a:xfrm>
            <a:off x="502920" y="1239012"/>
            <a:ext cx="8019288" cy="2532888"/>
            <a:chOff x="502920" y="1261872"/>
            <a:chExt cx="8019288" cy="2532888"/>
          </a:xfrm>
        </p:grpSpPr>
        <p:sp>
          <p:nvSpPr>
            <p:cNvPr id="4" name="Shape 2"/>
            <p:cNvSpPr/>
            <p:nvPr/>
          </p:nvSpPr>
          <p:spPr>
            <a:xfrm>
              <a:off x="502920" y="1417320"/>
              <a:ext cx="109728" cy="2194560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822960" y="1261872"/>
              <a:ext cx="68580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kern="0" spc="500" dirty="0">
                  <a:solidFill>
                    <a:srgbClr val="06B6D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EXPLORATORY DATA ANALYSIS</a:t>
              </a:r>
              <a:endParaRPr lang="en-US" sz="11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49808" y="1417320"/>
              <a:ext cx="7772400" cy="2377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4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Customer Subscription</a:t>
              </a:r>
              <a:endParaRPr lang="en-US" sz="420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4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Churn &amp; Usage</a:t>
              </a:r>
              <a:endParaRPr lang="en-US" sz="420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42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Pattern Analysis</a:t>
              </a:r>
              <a:endParaRPr lang="en-US" sz="42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822960" y="38587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 Waghmode  |  Kahaan Shah</a:t>
            </a:r>
            <a:endParaRPr lang="en-US" sz="1600" b="1" dirty="0"/>
          </a:p>
        </p:txBody>
      </p:sp>
      <p:sp>
        <p:nvSpPr>
          <p:cNvPr id="8" name="Text 6"/>
          <p:cNvSpPr/>
          <p:nvPr/>
        </p:nvSpPr>
        <p:spPr>
          <a:xfrm>
            <a:off x="822960" y="414680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25070123159  |  25070123060  |  Batch: A3  |  Dataset: Kaggle</a:t>
            </a:r>
            <a:endParaRPr 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&amp; 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EDA project investigates why customers cancel their subscriptions. Using real behavioral data, we identify which customers are most at risk and what signals predict churn earliest.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understanding churn drivers, businesses can launch timely interventions — personalized offers, support outreach, or plan upgrades — to improve customer lifetime value and reduce revenue loss.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34564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7B2FBE">
              <a:alpha val="2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79476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63040" y="3794760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7B2FBE">
              <a:alpha val="2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379476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23160" y="3794760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7B2FBE">
              <a:alpha val="2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379476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3794760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7B2FBE">
              <a:alpha val="2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79476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4160520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7B2FBE">
              <a:alpha val="2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6052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463040" y="4160520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7B2FBE">
              <a:alpha val="2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416052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23160" y="4160520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7B2FBE">
              <a:alpha val="2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416052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Squarify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81728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8032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Columns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28032" y="1609344"/>
            <a:ext cx="1463040" cy="2286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60934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64224" y="1581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 identifier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28032" y="1924812"/>
            <a:ext cx="1463040" cy="2286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92481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plan_type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64224" y="18973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/ Standard / Premium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28032" y="2240280"/>
            <a:ext cx="1463040" cy="2286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2402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monthly_fee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64224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fee in USD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28032" y="2555748"/>
            <a:ext cx="1463040" cy="2286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255574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avg_weekly_usage_hours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64224" y="25283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week on platform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28032" y="2871216"/>
            <a:ext cx="1463040" cy="2286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28712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support_tickets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364224" y="2843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help requests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28032" y="3186684"/>
            <a:ext cx="1463040" cy="2286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18668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payment_failures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364224" y="31592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payment attempts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28032" y="3502152"/>
            <a:ext cx="1463040" cy="2286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5021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tenure_months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64224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since signup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28032" y="3817620"/>
            <a:ext cx="1463040" cy="2286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38176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last_login_days_ago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64224" y="37901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activity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28032" y="4133088"/>
            <a:ext cx="1463040" cy="2286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413308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signup_date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64224" y="41056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first subscription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28032" y="4448556"/>
            <a:ext cx="1463040" cy="2286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444855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364224" y="44211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Yes / No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INSPECTION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structure, types, and quality of the dataset before any analysis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1938528" cy="1463040"/>
          </a:xfrm>
          <a:prstGeom prst="rect">
            <a:avLst/>
          </a:prstGeom>
          <a:solidFill>
            <a:srgbClr val="7B2FBE">
              <a:alpha val="82000"/>
            </a:srgbClr>
          </a:solidFill>
          <a:ln w="12700">
            <a:solidFill>
              <a:srgbClr val="7B2FBE">
                <a:alpha val="9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23444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df.size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47472" y="173736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~10,000+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" y="20574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columns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38528" cy="1463040"/>
          </a:xfrm>
          <a:prstGeom prst="rect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>
                <a:alpha val="9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23444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468880" y="173736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68880" y="20574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tabular data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90288" y="1143000"/>
            <a:ext cx="1938528" cy="1463040"/>
          </a:xfrm>
          <a:prstGeom prst="rect">
            <a:avLst/>
          </a:prstGeom>
          <a:solidFill>
            <a:srgbClr val="FBBF24">
              <a:alpha val="82000"/>
            </a:srgbClr>
          </a:solidFill>
          <a:ln w="12700">
            <a:solidFill>
              <a:srgbClr val="FBBF24">
                <a:alpha val="9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0288" y="123444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90288" y="173736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Types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90288" y="20574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+ categorical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11696" y="1143000"/>
            <a:ext cx="1938528" cy="1463040"/>
          </a:xfrm>
          <a:prstGeom prst="rect">
            <a:avLst/>
          </a:prstGeom>
          <a:solidFill>
            <a:srgbClr val="F97316">
              <a:alpha val="82000"/>
            </a:srgbClr>
          </a:solidFill>
          <a:ln w="12700">
            <a:solidFill>
              <a:srgbClr val="F97316">
                <a:alpha val="9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11696" y="123444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11696" y="173736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std, min, max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11696" y="20574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numeric cols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2743200"/>
            <a:ext cx="8321040" cy="2103120"/>
          </a:xfrm>
          <a:prstGeom prst="rect">
            <a:avLst/>
          </a:prstGeom>
          <a:solidFill>
            <a:srgbClr val="12224A"/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83464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from Inspection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32186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df.head() / df.tail():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confirms each row = one unique customer subscription record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" y="360273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dataset — numeric: monthly_fee, usage hours, tenure, tickets; categorical: plan_type, churn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0352" y="398678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numeric fields have NaNs — handled via mean imputation to preserve all rows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" y="43708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Check: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where last_login_days_ago &gt; tenure_months × 30 are logically impossible and removed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263347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87552"/>
            <a:ext cx="263347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87552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Missing Value Imputation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24231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columns with missing values (NaN) were filled using the column's mean. This preserves all rows without introducing bias from dropped data, keeping the full dataset intact for analysis.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63824" y="987552"/>
            <a:ext cx="263347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63824" y="987552"/>
            <a:ext cx="2633472" cy="43891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3824" y="987552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Duplicate Row Removal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73552" y="1481328"/>
            <a:ext cx="24231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duplicate rows were identified and removed using df.drop_duplicates(). This ensures each customer appears exactly once, preventing the same record from inflating any statistics or charts.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0176" y="987552"/>
            <a:ext cx="263347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0176" y="987552"/>
            <a:ext cx="2633472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0176" y="987552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Skewness Detection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89904" y="1481328"/>
            <a:ext cx="24231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was computed across all numeric columns. Columns like payment_failures and support_tickets showed strong right skew, meaning a small number of customers had extremely high values — these were noted as outlier-prone.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907792"/>
            <a:ext cx="263347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907792"/>
            <a:ext cx="2633472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907792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Logical Inconsistency Fix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401568"/>
            <a:ext cx="24231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where last_login_days_ago exceeded tenure_months × 30.44 were identified as physically impossible (can't have logged in before the account existed). These rows were dropped from the clean dataset.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63824" y="2907792"/>
            <a:ext cx="263347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63824" y="2907792"/>
            <a:ext cx="2633472" cy="4389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63824" y="2907792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Churn Column Encoding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73552" y="3401568"/>
            <a:ext cx="24231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categorical churn column ('Yes' / 'No') was mapped to binary integers (1 / 0) in a new column churn_numeric. This enables numeric correlation analysis, groupby aggregations, and visual comparisons.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80176" y="2907792"/>
            <a:ext cx="263347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4CC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0176" y="2907792"/>
            <a:ext cx="2633472" cy="43891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0176" y="2907792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Data Type Correction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89904" y="3401568"/>
            <a:ext cx="24231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plan_type was cast to Pandas category dtype for memory efficiency and proper ordering. signup_date was parsed from a string to a datetime object to allow time-series resampling by month.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0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UNIVARIATE ANALYSIS  —  Churn &amp; Plan Distribution</a:t>
            </a:r>
            <a:endParaRPr lang="en-US" sz="2200" dirty="0"/>
          </a:p>
        </p:txBody>
      </p:sp>
      <p:pic>
        <p:nvPicPr>
          <p:cNvPr id="4" name="Image 0" descr="/home/claude/charts/01_churn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4206240" cy="3383280"/>
          </a:xfrm>
          <a:prstGeom prst="rect">
            <a:avLst/>
          </a:prstGeom>
        </p:spPr>
      </p:pic>
      <p:pic>
        <p:nvPicPr>
          <p:cNvPr id="5" name="Image 1" descr="/home/claude/charts/02_plan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960120"/>
            <a:ext cx="4206240" cy="33832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4407408"/>
            <a:ext cx="4206240" cy="530352"/>
          </a:xfrm>
          <a:prstGeom prst="rect">
            <a:avLst/>
          </a:prstGeom>
          <a:solidFill>
            <a:srgbClr val="1A1040"/>
          </a:solidFill>
          <a:ln w="12700">
            <a:solidFill>
              <a:srgbClr val="F43F5E">
                <a:alpha val="6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40740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~27% of customers churned  ·  ~73% were retained in the observed period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663440" y="4407408"/>
            <a:ext cx="4206240" cy="530352"/>
          </a:xfrm>
          <a:prstGeom prst="rect">
            <a:avLst/>
          </a:prstGeom>
          <a:solidFill>
            <a:srgbClr val="1A1040"/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54880" y="440740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equal split across Basic (34%), Standard (33%) and Premium (33%) plans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UNIVARIATE ANALYSIS  —  Numerical Statistics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(df.describe())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" y="1481328"/>
          <a:ext cx="5074920" cy="3072384"/>
        </p:xfrm>
        <a:graphic>
          <a:graphicData uri="http://schemas.openxmlformats.org/drawingml/2006/table">
            <a:tbl>
              <a:tblPr/>
              <a:tblGrid>
                <a:gridCol w="1014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monthly_fee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avg_weekly_usage_hours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support_tickets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payment_failures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tenure_months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last_login_days_ago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742432" y="960120"/>
            <a:ext cx="1572768" cy="1115568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>
                <a:alpha val="9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42432" y="1088136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~73%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742432" y="167335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Retained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461504" y="960120"/>
            <a:ext cx="1572768" cy="1115568"/>
          </a:xfrm>
          <a:prstGeom prst="rect">
            <a:avLst/>
          </a:prstGeom>
          <a:solidFill>
            <a:srgbClr val="F43F5E">
              <a:alpha val="85000"/>
            </a:srgbClr>
          </a:solidFill>
          <a:ln w="12700">
            <a:solidFill>
              <a:srgbClr val="F43F5E">
                <a:alpha val="9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61504" y="1088136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~27%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461504" y="167335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Churned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42432" y="2221992"/>
            <a:ext cx="1572768" cy="1115568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9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42432" y="2350008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mo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742432" y="293522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Tenure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461504" y="2221992"/>
            <a:ext cx="1572768" cy="1115568"/>
          </a:xfrm>
          <a:prstGeom prst="rect">
            <a:avLst/>
          </a:prstGeom>
          <a:solidFill>
            <a:srgbClr val="7B2FBE">
              <a:alpha val="85000"/>
            </a:srgbClr>
          </a:solidFill>
          <a:ln w="12700">
            <a:solidFill>
              <a:srgbClr val="7B2FBE">
                <a:alpha val="9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461504" y="2350008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12.5h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461504" y="293522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 Usage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42432" y="3483864"/>
            <a:ext cx="1572768" cy="1115568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9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42432" y="361188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742432" y="419709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Support Tickets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461504" y="3483864"/>
            <a:ext cx="1572768" cy="1115568"/>
          </a:xfrm>
          <a:prstGeom prst="rect">
            <a:avLst/>
          </a:prstGeom>
          <a:solidFill>
            <a:srgbClr val="FBBF24">
              <a:alpha val="85000"/>
            </a:srgbClr>
          </a:solidFill>
          <a:ln w="12700">
            <a:solidFill>
              <a:srgbClr val="FBBF24">
                <a:alpha val="9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461504" y="361188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7461504" y="419709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Payment Failures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A855F7">
              <a:alpha val="75000"/>
            </a:srgbClr>
          </a:solidFill>
          <a:ln w="12700">
            <a:solidFill>
              <a:srgbClr val="A855F7">
                <a:alpha val="7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BIVARIATE ANALYSIS  —  Churn by Plan Type</a:t>
            </a:r>
            <a:endParaRPr lang="en-US" sz="2400" dirty="0"/>
          </a:p>
        </p:txBody>
      </p:sp>
      <p:pic>
        <p:nvPicPr>
          <p:cNvPr id="4" name="Image 0" descr="/home/claude/charts/03_churn_by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" y="1252728"/>
            <a:ext cx="4937760" cy="3474720"/>
          </a:xfrm>
          <a:prstGeom prst="rect">
            <a:avLst/>
          </a:prstGeom>
        </p:spPr>
      </p:pic>
      <p:pic>
        <p:nvPicPr>
          <p:cNvPr id="5" name="Image 1" descr="/home/claude/charts/04_churn_rate_p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914400"/>
            <a:ext cx="3429000" cy="23774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40680" y="3328416"/>
            <a:ext cx="3429000" cy="1764792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 sz="1050" dirty="0"/>
          </a:p>
        </p:txBody>
      </p:sp>
      <p:sp>
        <p:nvSpPr>
          <p:cNvPr id="7" name="Text 3"/>
          <p:cNvSpPr/>
          <p:nvPr/>
        </p:nvSpPr>
        <p:spPr>
          <a:xfrm>
            <a:off x="5577840" y="3444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5580888" y="3837432"/>
            <a:ext cx="137160" cy="1371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577840" y="4187952"/>
            <a:ext cx="137160" cy="1371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580888" y="4539996"/>
            <a:ext cx="137160" cy="1371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Shape 10"/>
          <p:cNvSpPr/>
          <p:nvPr/>
        </p:nvSpPr>
        <p:spPr>
          <a:xfrm>
            <a:off x="5577840" y="4890516"/>
            <a:ext cx="137160" cy="1371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28FA10-AF18-2B72-9216-A58C45218C8D}"/>
              </a:ext>
            </a:extLst>
          </p:cNvPr>
          <p:cNvGrpSpPr/>
          <p:nvPr/>
        </p:nvGrpSpPr>
        <p:grpSpPr>
          <a:xfrm>
            <a:off x="5779008" y="3758184"/>
            <a:ext cx="2971800" cy="1316736"/>
            <a:chOff x="5779008" y="3877056"/>
            <a:chExt cx="2971800" cy="1316736"/>
          </a:xfrm>
        </p:grpSpPr>
        <p:sp>
          <p:nvSpPr>
            <p:cNvPr id="9" name="Text 5"/>
            <p:cNvSpPr/>
            <p:nvPr/>
          </p:nvSpPr>
          <p:spPr>
            <a:xfrm>
              <a:off x="5779008" y="3877056"/>
              <a:ext cx="2971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Basic plan has the highest churn rate at ~34%</a:t>
              </a:r>
              <a:endParaRPr lang="en-US" sz="1000" b="1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5779008" y="4224528"/>
              <a:ext cx="2971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Premium plan shows the lowest churn at ~21%</a:t>
              </a:r>
              <a:endParaRPr lang="en-US" sz="1000" b="1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5779008" y="4572000"/>
              <a:ext cx="2971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Upgrading customers reduces churn significantly</a:t>
              </a:r>
              <a:endParaRPr lang="en-US" sz="1000" b="1" dirty="0"/>
            </a:p>
          </p:txBody>
        </p:sp>
        <p:sp>
          <p:nvSpPr>
            <p:cNvPr id="15" name="Text 11"/>
            <p:cNvSpPr/>
            <p:nvPr/>
          </p:nvSpPr>
          <p:spPr>
            <a:xfrm>
              <a:off x="5779008" y="4919472"/>
              <a:ext cx="2971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 plan sits mid-range at ~25% churn</a:t>
              </a:r>
              <a:endParaRPr lang="en-US" sz="1000" b="1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BIVARIATE ANALYSIS  —  Usage &amp; Support vs Churn</a:t>
            </a:r>
            <a:endParaRPr lang="en-US" sz="2200" dirty="0"/>
          </a:p>
        </p:txBody>
      </p:sp>
      <p:pic>
        <p:nvPicPr>
          <p:cNvPr id="4" name="Image 0" descr="/home/claude/charts/05_usage_k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14400"/>
            <a:ext cx="4343400" cy="3108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 1" descr="/home/claude/charts/06_support_box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14400"/>
            <a:ext cx="4023360" cy="31089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Shape 2"/>
          <p:cNvSpPr/>
          <p:nvPr/>
        </p:nvSpPr>
        <p:spPr>
          <a:xfrm>
            <a:off x="347472" y="4114800"/>
            <a:ext cx="4343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Insight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2920" y="4434840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customers average ~14.2h/week vs churned at ~10.8h. High usage = strong retention signal. Low-usage customers (under 8h) churn at 42%.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846320" y="411480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010912" y="4160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Insight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010912" y="4434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filed ~3.1 tickets on average vs ~1.9 for retained. High ticket volume is an early warning sign — proactive support can reduce churn risk.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43F5E">
              <a:alpha val="80000"/>
            </a:srgbClr>
          </a:solidFill>
          <a:ln w="12700">
            <a:solidFill>
              <a:srgbClr val="F43F5E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BIVARIATE ANALYSIS  —  Payment Failures vs Churn</a:t>
            </a:r>
            <a:endParaRPr lang="en-US" sz="2200" dirty="0"/>
          </a:p>
        </p:txBody>
      </p:sp>
      <p:pic>
        <p:nvPicPr>
          <p:cNvPr id="4" name="Image 0" descr="/home/claude/charts/07_payment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14400"/>
            <a:ext cx="5669280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914400"/>
            <a:ext cx="2651760" cy="388620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55080" y="10241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55080" y="1444752"/>
            <a:ext cx="2377440" cy="502920"/>
          </a:xfrm>
          <a:prstGeom prst="rect">
            <a:avLst/>
          </a:prstGeom>
          <a:solidFill>
            <a:srgbClr val="1A0A14"/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444752"/>
            <a:ext cx="23774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failures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~15%
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baseline churn for reliable payers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55080" y="2039112"/>
            <a:ext cx="2377440" cy="502920"/>
          </a:xfrm>
          <a:prstGeom prst="rect">
            <a:avLst/>
          </a:prstGeom>
          <a:solidFill>
            <a:srgbClr val="1A0A14"/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2039112"/>
            <a:ext cx="23774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failure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~28%
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doubles the churn risk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55080" y="2633472"/>
            <a:ext cx="2377440" cy="502920"/>
          </a:xfrm>
          <a:prstGeom prst="rect">
            <a:avLst/>
          </a:prstGeom>
          <a:solidFill>
            <a:srgbClr val="1A0A14"/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633472"/>
            <a:ext cx="23774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failures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~42%
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churn territory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55080" y="3227832"/>
            <a:ext cx="2377440" cy="502920"/>
          </a:xfrm>
          <a:prstGeom prst="rect">
            <a:avLst/>
          </a:prstGeom>
          <a:solidFill>
            <a:srgbClr val="1A0A14"/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3227832"/>
            <a:ext cx="23774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failures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~60%
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will likely leave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55080" y="3822192"/>
            <a:ext cx="2377440" cy="502920"/>
          </a:xfrm>
          <a:prstGeom prst="rect">
            <a:avLst/>
          </a:prstGeom>
          <a:solidFill>
            <a:srgbClr val="1A0A14"/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3822192"/>
            <a:ext cx="237744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failures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~80%+
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Near-certain churn — immediate action required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BIVARIATE &amp; TIME SERIES  —  Recency &amp; Signup Trends</a:t>
            </a:r>
            <a:endParaRPr lang="en-US" sz="2100" dirty="0"/>
          </a:p>
        </p:txBody>
      </p:sp>
      <p:pic>
        <p:nvPicPr>
          <p:cNvPr id="4" name="Image 0" descr="/home/claude/charts/08_recency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14400"/>
            <a:ext cx="4389120" cy="2834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 1" descr="/home/claude/charts/09_signups_timese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14400"/>
            <a:ext cx="4069080" cy="28346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Shape 2"/>
          <p:cNvSpPr/>
          <p:nvPr/>
        </p:nvSpPr>
        <p:spPr>
          <a:xfrm>
            <a:off x="347472" y="3822192"/>
            <a:ext cx="4389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" y="3913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Recency Insight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2920" y="42062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last logged in 46–60 days ago churn at a dramatically higher rate. "Time since last login" is one of the most actionable churn signals — a win-back campaign targeting the 30+ day inactive segment can prevent significant losses.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846320" y="3822192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001768" y="3913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Signup Trend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01768" y="42062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rates show seasonal variation with peaks in mid-year and year-end. Tracking cohort-level churn from these signups can reveal whether newer acquisitions retain better than older ones.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MULTIVARIATE ANALYSIS  —  Correlation Heatmap</a:t>
            </a:r>
            <a:endParaRPr lang="en-US" sz="2300" dirty="0"/>
          </a:p>
        </p:txBody>
      </p:sp>
      <p:pic>
        <p:nvPicPr>
          <p:cNvPr id="4" name="Image 0" descr="/home/claude/charts/10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14400"/>
            <a:ext cx="5212080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914400"/>
            <a:ext cx="3090672" cy="388620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97880" y="10241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Correlations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97880" y="1444752"/>
            <a:ext cx="2834640" cy="530352"/>
          </a:xfrm>
          <a:prstGeom prst="rect">
            <a:avLst/>
          </a:prstGeom>
          <a:solidFill>
            <a:srgbClr val="0E1F3D"/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444752"/>
            <a:ext cx="28346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support_tickets ↔ payment_failures 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+0.41
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link — customers who fail payments also raise more support requests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897880" y="2084832"/>
            <a:ext cx="2834640" cy="530352"/>
          </a:xfrm>
          <a:prstGeom prst="rect">
            <a:avLst/>
          </a:prstGeom>
          <a:solidFill>
            <a:srgbClr val="0E1F3D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2084832"/>
            <a:ext cx="28346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usage_hours ↔ support_tickets  </a:t>
            </a: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−0.32
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usage = more tickets; disengaged users struggle more with the product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97880" y="2724912"/>
            <a:ext cx="2834640" cy="530352"/>
          </a:xfrm>
          <a:prstGeom prst="rect">
            <a:avLst/>
          </a:prstGeom>
          <a:solidFill>
            <a:srgbClr val="0E1F3D"/>
          </a:solidFill>
          <a:ln w="12700">
            <a:solidFill>
              <a:srgbClr val="7B2FBE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2724912"/>
            <a:ext cx="28346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↔ churn  </a:t>
            </a: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−0.25
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tenure reduces churn — loyalty builds over time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97880" y="3364992"/>
            <a:ext cx="2834640" cy="530352"/>
          </a:xfrm>
          <a:prstGeom prst="rect">
            <a:avLst/>
          </a:prstGeom>
          <a:solidFill>
            <a:srgbClr val="0E1F3D"/>
          </a:solidFill>
          <a:ln w="12700">
            <a:solidFill>
              <a:srgbClr val="F43F5E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3364992"/>
            <a:ext cx="28346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usage_hours ↔ churn  </a:t>
            </a: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−0.31
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usage strongly predicts churning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97880" y="4005072"/>
            <a:ext cx="2834640" cy="530352"/>
          </a:xfrm>
          <a:prstGeom prst="rect">
            <a:avLst/>
          </a:prstGeom>
          <a:solidFill>
            <a:srgbClr val="0E1F3D"/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4005072"/>
            <a:ext cx="2834640" cy="530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pay_fail ↔ churn  </a:t>
            </a: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+0.38
</a:t>
            </a: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payment failures = much higher chance of leaving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MULTIVARIATE ANALYSIS  —  Scatter &amp; Bubble Plots</a:t>
            </a:r>
            <a:endParaRPr lang="en-US" sz="2200" dirty="0"/>
          </a:p>
        </p:txBody>
      </p:sp>
      <p:pic>
        <p:nvPicPr>
          <p:cNvPr id="4" name="Image 0" descr="/home/claude/charts/11_tenure_usage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14400"/>
            <a:ext cx="4389120" cy="3108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 1" descr="/home/claude/charts/13_bubble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14400"/>
            <a:ext cx="4041648" cy="31089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Shape 2"/>
          <p:cNvSpPr/>
          <p:nvPr/>
        </p:nvSpPr>
        <p:spPr>
          <a:xfrm>
            <a:off x="347472" y="4096512"/>
            <a:ext cx="4389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" y="41605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vs Usage Scatter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2920" y="4425696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(red) cluster heavily in the bottom-left quadrant — short tenure AND low usage. Retained customers (green) are spread across all tenures but concentrate in higher usage zones.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846320" y="4096512"/>
            <a:ext cx="404164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010912" y="4160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Plot  (Size = Support Tickets)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010912" y="442569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bubbles (more support tickets) are overwhelmingly red (churned). High-ticket, low-usage customers in the short-tenure zone represent the most at-risk segment.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BBF24">
              <a:alpha val="82000"/>
            </a:srgbClr>
          </a:solidFill>
          <a:ln w="12700">
            <a:solidFill>
              <a:srgbClr val="FBBF24">
                <a:alpha val="8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WRANGLING, BINNING &amp; NORMALIZATION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2633472" cy="17830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60120"/>
            <a:ext cx="2633472" cy="45720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60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Date Formatting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72184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signup_date was converted from string to datetime using pd.to_datetime(). This unlocked monthly time-series analysis and cohort comparisons by signup period.</a:t>
            </a:r>
            <a:endParaRPr lang="en-US" sz="950" dirty="0">
              <a:solidFill>
                <a:srgbClr val="334155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163824" y="960120"/>
            <a:ext cx="2633472" cy="17830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63824" y="960120"/>
            <a:ext cx="2633472" cy="457200"/>
          </a:xfrm>
          <a:prstGeom prst="rect">
            <a:avLst/>
          </a:prstGeom>
          <a:solidFill>
            <a:srgbClr val="7B2FBE">
              <a:alpha val="80000"/>
            </a:srgbClr>
          </a:solidFill>
          <a:ln w="12700">
            <a:solidFill>
              <a:srgbClr val="7B2FBE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55264" y="960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ID Column Removal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73552" y="1472184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was dropped as it carries no predictive information. Keeping pure identifiers in analysis can artificially inflate feature counts and confuse correlations</a:t>
            </a: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0176" y="960120"/>
            <a:ext cx="2633472" cy="17830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0176" y="960120"/>
            <a:ext cx="2633472" cy="4572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71616" y="960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Tenure Binning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9904" y="1472184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tenure_months was grouped into 3 bins: New (0–12 mo), Mid-term (13–24 mo), and Loyal (25+ mo). Binning enables group-level churn comparisons and simplifies reporting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926080"/>
            <a:ext cx="2633472" cy="17830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926080"/>
            <a:ext cx="2633472" cy="45720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926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Usage Binning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438144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avg_weekly_usage_hours was split into Low (0–8h), Medium (8–16h), and High (16–25h). These tiers map directly to churn risk and make stakeholder communication clearer</a:t>
            </a:r>
            <a:r>
              <a:rPr lang="en-US" sz="950" dirty="0">
                <a:solidFill>
                  <a:srgbClr val="F68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>
              <a:solidFill>
                <a:srgbClr val="F68B42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163824" y="2926080"/>
            <a:ext cx="2633472" cy="17830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3824" y="2926080"/>
            <a:ext cx="2633472" cy="457200"/>
          </a:xfrm>
          <a:prstGeom prst="rect">
            <a:avLst/>
          </a:prstGeom>
          <a:solidFill>
            <a:srgbClr val="84CC16">
              <a:alpha val="80000"/>
            </a:srgbClr>
          </a:solidFill>
          <a:ln w="12700">
            <a:solidFill>
              <a:srgbClr val="84CC16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55264" y="2926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Standard Scaling (Z-Score)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73552" y="3438144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usage hours &amp; tenure. Transforms values to mean=0, std=1. Ideal for normally distributed columns — preserves relative distances and enables unbiased comparisons.</a:t>
            </a:r>
            <a:endParaRPr lang="en-US" sz="950" dirty="0">
              <a:solidFill>
                <a:srgbClr val="334155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80176" y="2926080"/>
            <a:ext cx="2633472" cy="17830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0176" y="2926080"/>
            <a:ext cx="2633472" cy="457200"/>
          </a:xfrm>
          <a:prstGeom prst="rect">
            <a:avLst/>
          </a:prstGeom>
          <a:solidFill>
            <a:srgbClr val="F43F5E">
              <a:alpha val="80000"/>
            </a:srgbClr>
          </a:solidFill>
          <a:ln w="12700">
            <a:solidFill>
              <a:srgbClr val="F43F5E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1616" y="2926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Robust Scaling (IQR)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89904" y="3438144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support_tickets &amp; payment_failures. Uses median and IQR instead of mean — fully immune to extreme outliers that are common in support and payment data.</a:t>
            </a:r>
            <a:endParaRPr lang="en-US" sz="950" dirty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CATEGORICAL ANALYSIS  —  Usage Level &amp; Tenure Churn</a:t>
            </a:r>
            <a:endParaRPr lang="en-US" sz="2100" dirty="0"/>
          </a:p>
        </p:txBody>
      </p:sp>
      <p:pic>
        <p:nvPicPr>
          <p:cNvPr id="4" name="Image 0" descr="/home/claude/charts/14_usage_level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868680"/>
            <a:ext cx="4066032" cy="28673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 1" descr="/home/claude/charts/15_tenure_chu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868680"/>
            <a:ext cx="3840480" cy="28673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Shape 2"/>
          <p:cNvSpPr/>
          <p:nvPr/>
        </p:nvSpPr>
        <p:spPr>
          <a:xfrm>
            <a:off x="347472" y="4005072"/>
            <a:ext cx="367588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" y="406908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Usage Level (pd.crosstab)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544248"/>
              </p:ext>
            </p:extLst>
          </p:nvPr>
        </p:nvGraphicFramePr>
        <p:xfrm>
          <a:off x="347472" y="3765596"/>
          <a:ext cx="4066032" cy="127254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35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43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Usage Level</a:t>
                      </a:r>
                      <a:endParaRPr lang="en-US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Churn Rate</a:t>
                      </a:r>
                      <a:endParaRPr lang="en-US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</a:rPr>
                        <a:t>Insight</a:t>
                      </a:r>
                      <a:endParaRPr lang="en-US" sz="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Low  (0–8h)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42%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Highest risk — 2× the overall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2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Medium  (8–16h)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24%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Moderate — close to average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High  (16–25h)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14%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Lowest risk — power users stay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749109"/>
              </p:ext>
            </p:extLst>
          </p:nvPr>
        </p:nvGraphicFramePr>
        <p:xfrm>
          <a:off x="4956048" y="3765596"/>
          <a:ext cx="3840480" cy="1293686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007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6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Tenure Group</a:t>
                      </a:r>
                      <a:endParaRPr lang="en-US" sz="8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Churn Rate</a:t>
                      </a:r>
                      <a:endParaRPr lang="en-US" sz="8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Insight</a:t>
                      </a:r>
                      <a:endParaRPr lang="en-US" sz="8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5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0–12 months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~38%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Highest — critical onboarding phase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13–24 months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~25%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Moderate — building loyalty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5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25+ months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~15%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Lowest — long-term customers stay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0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A855F7">
              <a:alpha val="78000"/>
            </a:srgbClr>
          </a:solidFill>
          <a:ln w="12700">
            <a:solidFill>
              <a:srgbClr val="A855F7">
                <a:alpha val="7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VISUALIZATION  —  Treemap: Plan × Churn</a:t>
            </a:r>
            <a:endParaRPr lang="en-US" sz="2400" dirty="0"/>
          </a:p>
        </p:txBody>
      </p:sp>
      <p:pic>
        <p:nvPicPr>
          <p:cNvPr id="4" name="Image 0" descr="/home/claude/charts/12_tre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59436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914400"/>
            <a:ext cx="2377440" cy="39319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01968" y="10058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01968" y="13716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rectangle's area is proportional to the number of customers in that Plan + Churn combination. Larger tiles = more customers.</a:t>
            </a:r>
            <a:endParaRPr lang="en-US" sz="1000" dirty="0">
              <a:solidFill>
                <a:srgbClr val="334155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601968" y="221284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01968" y="2542032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'Basic - Retained' and 'Standard - Retained' tiles are largest — most customers don't churn. But the 'Basic - Churned' tile is noticeably large relative to Premium, confirming Basic's higher churn vulnerability.</a:t>
            </a:r>
            <a:endParaRPr lang="en-US" sz="1000" dirty="0">
              <a:solidFill>
                <a:srgbClr val="334155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601968" y="382219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01968" y="41148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retention efforts on Basic plan churners for maximum impact.</a:t>
            </a:r>
            <a:endParaRPr lang="en-US" sz="1000" dirty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C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2FFF4-0D56-9570-62AD-A34D6FEF0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CD1C31-F496-C62C-2AA3-4F2F17DD07F9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A855F7">
              <a:alpha val="78000"/>
            </a:srgbClr>
          </a:solidFill>
          <a:ln w="12700">
            <a:solidFill>
              <a:srgbClr val="A855F7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ADCFD6-AFB3-5E93-ADD4-85ECC28E52AB}"/>
              </a:ext>
            </a:extLst>
          </p:cNvPr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ADDITIONAL PLOTS/FUNCTIONS USED – VIOLIN PLOT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413D206-5617-9B11-582A-4F33E7249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58" y="1199063"/>
            <a:ext cx="7781483" cy="338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065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C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3E8B0E-F8A6-D55D-4DCD-3BB0A4310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D40C9F-74B9-64E5-8FA7-38BE89163EF1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A855F7">
              <a:alpha val="78000"/>
            </a:srgbClr>
          </a:solidFill>
          <a:ln w="12700">
            <a:solidFill>
              <a:srgbClr val="A855F7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C48616-A95E-2F52-8BEA-C60B99AFA209}"/>
              </a:ext>
            </a:extLst>
          </p:cNvPr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EXTENDED ANALYSIS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614F9D-9439-343C-5781-88BBD5772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14" y="804673"/>
            <a:ext cx="4020938" cy="222096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DA1423-FAAA-B00D-4106-288EE1C79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765" y="804673"/>
            <a:ext cx="4020939" cy="223772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712EBD-E273-7415-75CC-F079AB673C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14" y="3042394"/>
            <a:ext cx="4020938" cy="211786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259C08-D908-AC3B-DCCE-FFA53BE2A9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765" y="3042395"/>
            <a:ext cx="4020939" cy="217755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90633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PATTERNS &amp; TRENDS IDENTIFIED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413308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60120"/>
            <a:ext cx="4133088" cy="457200"/>
          </a:xfrm>
          <a:prstGeom prst="rect">
            <a:avLst/>
          </a:prstGeom>
          <a:solidFill>
            <a:srgbClr val="0D9488">
              <a:alpha val="88000"/>
            </a:srgbClr>
          </a:solidFill>
          <a:ln w="12700">
            <a:solidFill>
              <a:srgbClr val="0D9488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960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Usage Drives Retention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" y="1545336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508760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Low-usage customers (&lt;8h/week) churn at 42% — nearly 3× the high-usage 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" y="1947672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1911096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additional hour of weekly usage significantly reduces churn probability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" y="2350008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313432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teams should focus on in-app engagement features and onboarding to lift usage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13308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60120"/>
            <a:ext cx="4133088" cy="457200"/>
          </a:xfrm>
          <a:prstGeom prst="rect">
            <a:avLst/>
          </a:prstGeom>
          <a:solidFill>
            <a:srgbClr val="7B2FBE">
              <a:alpha val="88000"/>
            </a:srgbClr>
          </a:solidFill>
          <a:ln w="12700">
            <a:solidFill>
              <a:srgbClr val="7B2FBE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960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Tenure = Loyalty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1545336"/>
            <a:ext cx="118872" cy="11887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1508760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(0–12 months) are the most vulnerable, churning at ~38%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1947672"/>
            <a:ext cx="118872" cy="11887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4064" y="1911096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survive past 24 months have a churn rate below 15%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350008"/>
            <a:ext cx="118872" cy="11887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4064" y="2313432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3 months post-signup represent the highest-risk window for churn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2990088"/>
            <a:ext cx="413308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2990088"/>
            <a:ext cx="4133088" cy="457200"/>
          </a:xfrm>
          <a:prstGeom prst="rect">
            <a:avLst/>
          </a:prstGeom>
          <a:solidFill>
            <a:srgbClr val="F97316">
              <a:alpha val="88000"/>
            </a:srgbClr>
          </a:solidFill>
          <a:ln w="12700">
            <a:solidFill>
              <a:srgbClr val="F97316">
                <a:alpha val="8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29900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Plan Tier Matters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" y="3575304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3538728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plan users churn at 34% — 62% more than Premium at 21%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" y="3977640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3941064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customers have invested more financially and are more committed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" y="4379976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4343400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plan upgrade journey could meaningfully reduce overall churn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990088"/>
            <a:ext cx="413308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990088"/>
            <a:ext cx="4133088" cy="457200"/>
          </a:xfrm>
          <a:prstGeom prst="rect">
            <a:avLst/>
          </a:prstGeom>
          <a:solidFill>
            <a:srgbClr val="FBBF24">
              <a:alpha val="88000"/>
            </a:srgbClr>
          </a:solidFill>
          <a:ln w="12700">
            <a:solidFill>
              <a:srgbClr val="FBBF24">
                <a:alpha val="8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9900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Payment &amp; Support Signals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92040" y="3575304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3538728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failures are the single strongest churn predictor — 80% at 4+ failures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977640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84064" y="3941064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support ticket volume signals customer frustration before they cancel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4379976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84064" y="4343400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outreach at failure #1 could prevent the churn cascade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0B981">
              <a:alpha val="78000"/>
            </a:srgbClr>
          </a:solidFill>
          <a:ln w="12700">
            <a:solidFill>
              <a:srgbClr val="10B981">
                <a:alpha val="7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2633472" cy="173736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60120"/>
            <a:ext cx="2633472" cy="438912"/>
          </a:xfrm>
          <a:prstGeom prst="rect">
            <a:avLst/>
          </a:prstGeom>
          <a:solidFill>
            <a:srgbClr val="0D9488">
              <a:alpha val="82000"/>
            </a:srgbClr>
          </a:solidFill>
          <a:ln w="12700">
            <a:solidFill>
              <a:srgbClr val="0D9488">
                <a:alpha val="8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601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Re-Engage Low-Usage Users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53896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538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customers averaging under 8h/week and trigger automated engagement emails, tutorial prompts, or in-app onboarding nudges within the first 30 days of low activity.</a:t>
            </a:r>
            <a:endParaRPr lang="en-US" sz="1000" dirty="0">
              <a:solidFill>
                <a:srgbClr val="334155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63824" y="960120"/>
            <a:ext cx="2633472" cy="173736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3824" y="960120"/>
            <a:ext cx="2633472" cy="438912"/>
          </a:xfrm>
          <a:prstGeom prst="rect">
            <a:avLst/>
          </a:prstGeom>
          <a:solidFill>
            <a:srgbClr val="F43F5E">
              <a:alpha val="82000"/>
            </a:srgbClr>
          </a:solidFill>
          <a:ln w="12700">
            <a:solidFill>
              <a:srgbClr val="F43F5E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3255264" y="9601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Payment Failure Intervention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73552" y="1453896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F43F5E">
              <a:alpha val="30000"/>
            </a:srgbClr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4538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73552" y="170992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first payment failure, send a proactive payment update reminder. At failure #2, offer a payment grace period. By failure #3, escalate to a dedicated retention agent.</a:t>
            </a:r>
            <a:endParaRPr lang="en-US" sz="1000" dirty="0">
              <a:solidFill>
                <a:srgbClr val="334155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80176" y="960120"/>
            <a:ext cx="2633472" cy="173736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0176" y="960120"/>
            <a:ext cx="2633472" cy="438912"/>
          </a:xfrm>
          <a:prstGeom prst="rect">
            <a:avLst/>
          </a:prstGeom>
          <a:solidFill>
            <a:srgbClr val="7B2FBE">
              <a:alpha val="82000"/>
            </a:srgbClr>
          </a:solidFill>
          <a:ln w="12700">
            <a:solidFill>
              <a:srgbClr val="7B2FBE">
                <a:alpha val="8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9601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 New Customer Nurture Program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9904" y="1453896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7B2FBE">
              <a:alpha val="30000"/>
            </a:srgbClr>
          </a:solidFill>
          <a:ln w="12700">
            <a:solidFill>
              <a:srgbClr val="7B2FBE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14538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89904" y="170992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structured 90-day onboarding journey for all new subscribers. Regular check-ins, feature education, and milestone celebrations reduce early-tenure churn dramatically.</a:t>
            </a:r>
            <a:endParaRPr lang="en-US" sz="1000" dirty="0">
              <a:solidFill>
                <a:srgbClr val="334155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47472" y="2880360"/>
            <a:ext cx="2633472" cy="173736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2880360"/>
            <a:ext cx="2633472" cy="438912"/>
          </a:xfrm>
          <a:prstGeom prst="rect">
            <a:avLst/>
          </a:prstGeom>
          <a:solidFill>
            <a:srgbClr val="FBBF24">
              <a:alpha val="82000"/>
            </a:srgbClr>
          </a:solidFill>
          <a:ln w="12700">
            <a:solidFill>
              <a:srgbClr val="FBBF24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438912" y="28803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 Win-Back Inactive Users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374136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FBBF24">
              <a:alpha val="30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3741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Impact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7200" y="363016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inactive for 30+ days are high-risk. Launch targeted win-back campaigns with limited-time offers or personalized messages to bring them back before they formally cancel.</a:t>
            </a:r>
            <a:endParaRPr lang="en-US" sz="1000" dirty="0">
              <a:solidFill>
                <a:srgbClr val="334155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163824" y="2880360"/>
            <a:ext cx="2633472" cy="173736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63824" y="2880360"/>
            <a:ext cx="2633472" cy="438912"/>
          </a:xfrm>
          <a:prstGeom prst="rect">
            <a:avLst/>
          </a:prstGeom>
          <a:solidFill>
            <a:srgbClr val="06B6D4">
              <a:alpha val="82000"/>
            </a:srgbClr>
          </a:solidFill>
          <a:ln w="12700">
            <a:solidFill>
              <a:srgbClr val="06B6D4">
                <a:alpha val="8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55264" y="28803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 Support Ticket Escalation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73552" y="3374136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33741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73552" y="363016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customer files 3+ support tickets, route them automatically to a senior support specialist. Fast, quality resolution at this stage prevents frustrated users from churning.</a:t>
            </a:r>
            <a:endParaRPr lang="en-US" sz="1000" dirty="0">
              <a:solidFill>
                <a:srgbClr val="334155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980176" y="2880360"/>
            <a:ext cx="2633472" cy="173736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80176" y="2880360"/>
            <a:ext cx="2633472" cy="438912"/>
          </a:xfrm>
          <a:prstGeom prst="rect">
            <a:avLst/>
          </a:prstGeom>
          <a:solidFill>
            <a:srgbClr val="84CC16">
              <a:alpha val="82000"/>
            </a:srgbClr>
          </a:solidFill>
          <a:ln w="12700">
            <a:solidFill>
              <a:srgbClr val="84CC16">
                <a:alpha val="8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71616" y="28803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  Plan Upgrade Incentives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89904" y="3374136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84CC16">
              <a:alpha val="30000"/>
            </a:srgbClr>
          </a:solidFill>
          <a:ln w="12700">
            <a:solidFill>
              <a:srgbClr val="84CC16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9904" y="33741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Impact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089904" y="363016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Basic plan subscribers a free 1-month trial of Premium. Once they experience higher-tier features, upgrade rates — and retention — improve measurably.</a:t>
            </a:r>
            <a:endParaRPr lang="en-US" sz="1000" dirty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731520"/>
            <a:ext cx="5029200" cy="5029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926080"/>
            <a:ext cx="4114800" cy="4114800"/>
          </a:xfrm>
          <a:prstGeom prst="ellipse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84048"/>
            <a:ext cx="118872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84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069080" cy="1097280"/>
          </a:xfrm>
          <a:prstGeom prst="rect">
            <a:avLst/>
          </a:prstGeom>
          <a:solidFill>
            <a:srgbClr val="F43F5E">
              <a:alpha val="16000"/>
            </a:srgbClr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801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42% vs 14%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76072" y="18745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vs High usage churn 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69080" cy="1097280"/>
          </a:xfrm>
          <a:prstGeom prst="rect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2801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919472" y="18745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plan — highest churn tier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450592"/>
            <a:ext cx="4069080" cy="1097280"/>
          </a:xfrm>
          <a:prstGeom prst="rect">
            <a:avLst/>
          </a:prstGeom>
          <a:solidFill>
            <a:srgbClr val="0D9488">
              <a:alpha val="16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5420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+0.41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76072" y="31363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↔ Payment failure correlation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450592"/>
            <a:ext cx="4069080" cy="1097280"/>
          </a:xfrm>
          <a:prstGeom prst="rect">
            <a:avLst/>
          </a:prstGeom>
          <a:solidFill>
            <a:srgbClr val="A855F7">
              <a:alpha val="16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5420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~27%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19472" y="31363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dataset churn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Insight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404164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in this dataset is strongly driven by three behavioural signals: low weekly usage, short tenure, and payment failures. Together, these three factors predict the majority of churns. A data-driven retention strategy that monitors these signals and triggers timely interventions can significantly improve customer lifetime value and reduce revenue leakage.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2086</Words>
  <Application>Microsoft Office PowerPoint</Application>
  <PresentationFormat>On-screen Show (16:9)</PresentationFormat>
  <Paragraphs>274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Subscription Churn &amp; Usage Pattern Analysis</dc:title>
  <dc:subject>PptxGenJS Presentation</dc:subject>
  <dc:creator>PptxGenJS</dc:creator>
  <cp:lastModifiedBy>Shreya Waghmode</cp:lastModifiedBy>
  <cp:revision>5</cp:revision>
  <dcterms:created xsi:type="dcterms:W3CDTF">2026-04-18T19:49:02Z</dcterms:created>
  <dcterms:modified xsi:type="dcterms:W3CDTF">2026-04-21T18:08:29Z</dcterms:modified>
</cp:coreProperties>
</file>